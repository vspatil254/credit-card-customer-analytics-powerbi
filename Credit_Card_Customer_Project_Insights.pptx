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1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Credit Card Customer Report — Project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256032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700" b="1">
                <a:solidFill>
                  <a:srgbClr val="EFCD5B"/>
                </a:solidFill>
              </a:defRPr>
            </a:pPr>
            <a:r>
              <a:t>Overview YTD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70432"/>
            <a:ext cx="2697480" cy="822960"/>
          </a:xfrm>
          <a:prstGeom prst="roundRect">
            <a:avLst/>
          </a:prstGeom>
          <a:solidFill>
            <a:srgbClr val="F5F5F8"/>
          </a:solidFill>
          <a:ln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61872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5555F"/>
                </a:solidFill>
              </a:defRPr>
            </a:pPr>
            <a:r>
              <a:t>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481328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183D"/>
                </a:solidFill>
              </a:defRPr>
            </a:pPr>
            <a:r>
              <a:t>55M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170432"/>
            <a:ext cx="2697480" cy="822960"/>
          </a:xfrm>
          <a:prstGeom prst="roundRect">
            <a:avLst/>
          </a:prstGeom>
          <a:solidFill>
            <a:srgbClr val="F5F5F8"/>
          </a:solidFill>
          <a:ln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1261872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5555F"/>
                </a:solidFill>
              </a:defRPr>
            </a:pPr>
            <a:r>
              <a:t>Transaction Amount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1481328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183D"/>
                </a:solidFill>
              </a:defRPr>
            </a:pPr>
            <a:r>
              <a:t>45M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170432"/>
            <a:ext cx="2697480" cy="822960"/>
          </a:xfrm>
          <a:prstGeom prst="roundRect">
            <a:avLst/>
          </a:prstGeom>
          <a:solidFill>
            <a:srgbClr val="F5F5F8"/>
          </a:solidFill>
          <a:ln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1261872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5555F"/>
                </a:solidFill>
              </a:defRPr>
            </a:pPr>
            <a:r>
              <a:t>Interest Earned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1" y="1481328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183D"/>
                </a:solidFill>
              </a:defRPr>
            </a:pPr>
            <a:r>
              <a:t>7.84M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170432"/>
            <a:ext cx="2697480" cy="822960"/>
          </a:xfrm>
          <a:prstGeom prst="roundRect">
            <a:avLst/>
          </a:prstGeom>
          <a:solidFill>
            <a:srgbClr val="F5F5F8"/>
          </a:solidFill>
          <a:ln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08592" y="1261872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5555F"/>
                </a:solidFill>
              </a:defRPr>
            </a:pPr>
            <a:r>
              <a:t>Transaction 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08592" y="1481328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183D"/>
                </a:solidFill>
              </a:defRPr>
            </a:pPr>
            <a:r>
              <a:t>656K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240280"/>
            <a:ext cx="5486400" cy="4069080"/>
          </a:xfrm>
          <a:prstGeom prst="roundRect">
            <a:avLst/>
          </a:prstGeom>
          <a:solidFill>
            <a:srgbClr val="FAFAFC"/>
          </a:solidFill>
          <a:ln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2368296"/>
            <a:ext cx="50840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6194C"/>
                </a:solidFill>
              </a:defRPr>
            </a:pPr>
            <a:r>
              <a:t>Key Business Insights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770632"/>
            <a:ext cx="50292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50">
                <a:solidFill>
                  <a:srgbClr val="55555F"/>
                </a:solidFill>
              </a:defRPr>
            </a:pPr>
            <a:r>
              <a:t>• Blue &amp; Silver credit cards contributed 93% of overall transactions.</a:t>
            </a:r>
          </a:p>
          <a:p>
            <a:pPr>
              <a:spcAft>
                <a:spcPts val="900"/>
              </a:spcAft>
              <a:defRPr sz="1450">
                <a:solidFill>
                  <a:srgbClr val="55555F"/>
                </a:solidFill>
              </a:defRPr>
            </a:pPr>
            <a:r>
              <a:t>• TX, NY &amp; CA contributed 68% of overall revenue.</a:t>
            </a:r>
          </a:p>
          <a:p>
            <a:pPr>
              <a:spcAft>
                <a:spcPts val="900"/>
              </a:spcAft>
              <a:defRPr sz="1450">
                <a:solidFill>
                  <a:srgbClr val="55555F"/>
                </a:solidFill>
              </a:defRPr>
            </a:pPr>
            <a:r>
              <a:t>• Graduate customers generated the highest education-level revenue at 22M.</a:t>
            </a:r>
          </a:p>
          <a:p>
            <a:pPr>
              <a:spcAft>
                <a:spcPts val="900"/>
              </a:spcAft>
              <a:defRPr sz="1450">
                <a:solidFill>
                  <a:srgbClr val="55555F"/>
                </a:solidFill>
              </a:defRPr>
            </a:pPr>
            <a:r>
              <a:t>• Business customers generated the highest occupational revenue at 17M.</a:t>
            </a:r>
          </a:p>
          <a:p>
            <a:pPr>
              <a:spcAft>
                <a:spcPts val="900"/>
              </a:spcAft>
              <a:defRPr sz="1450">
                <a:solidFill>
                  <a:srgbClr val="55555F"/>
                </a:solidFill>
              </a:defRPr>
            </a:pPr>
            <a:r>
              <a:t>• High-income customers contributed the highest revenue at 29M.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2240280"/>
            <a:ext cx="5486400" cy="4069080"/>
          </a:xfrm>
          <a:prstGeom prst="roundRect">
            <a:avLst/>
          </a:prstGeom>
          <a:solidFill>
            <a:srgbClr val="FAFAFC"/>
          </a:solidFill>
          <a:ln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368296"/>
            <a:ext cx="50840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183D"/>
                </a:solidFill>
              </a:defRPr>
            </a:pPr>
            <a:r>
              <a:t>Customer Insights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2770632"/>
            <a:ext cx="50292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50">
                <a:solidFill>
                  <a:srgbClr val="55555F"/>
                </a:solidFill>
              </a:defRPr>
            </a:pPr>
            <a:r>
              <a:t>• Customers aged 40–50 generated the highest age-group revenue at 24M.</a:t>
            </a:r>
          </a:p>
          <a:p>
            <a:pPr>
              <a:spcAft>
                <a:spcPts val="900"/>
              </a:spcAft>
              <a:defRPr sz="1450">
                <a:solidFill>
                  <a:srgbClr val="55555F"/>
                </a:solidFill>
              </a:defRPr>
            </a:pPr>
            <a:r>
              <a:t>• Married customers generated the highest revenue at 28M.</a:t>
            </a:r>
          </a:p>
          <a:p>
            <a:pPr>
              <a:spcAft>
                <a:spcPts val="900"/>
              </a:spcAft>
              <a:defRPr sz="1450">
                <a:solidFill>
                  <a:srgbClr val="55555F"/>
                </a:solidFill>
              </a:defRPr>
            </a:pPr>
            <a:r>
              <a:t>• Customers without home ownership contributed 30M vs. 25M from homeowners.</a:t>
            </a:r>
          </a:p>
          <a:p>
            <a:pPr>
              <a:spcAft>
                <a:spcPts val="900"/>
              </a:spcAft>
              <a:defRPr sz="1450">
                <a:solidFill>
                  <a:srgbClr val="55555F"/>
                </a:solidFill>
              </a:defRPr>
            </a:pPr>
            <a:r>
              <a:t>• Overall activation rate is 57.5%.</a:t>
            </a:r>
          </a:p>
          <a:p>
            <a:pPr>
              <a:spcAft>
                <a:spcPts val="900"/>
              </a:spcAft>
              <a:defRPr sz="1450">
                <a:solidFill>
                  <a:srgbClr val="55555F"/>
                </a:solidFill>
              </a:defRPr>
            </a:pPr>
            <a:r>
              <a:t>• Overall delinquent rate is 6.06%.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2828C"/>
                </a:solidFill>
              </a:defRPr>
            </a:pPr>
            <a:r>
              <a:t>Power BI Portfolio Project • Credit Card Customer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